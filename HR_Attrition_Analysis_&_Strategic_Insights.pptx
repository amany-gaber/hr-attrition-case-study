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733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1639770"/>
            <a:ext cx="7620009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HR ATTRITION ANALYSIS
&amp; STRATEGIC INSIGHTS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61981" y="2988487"/>
            <a:ext cx="7620009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Presentation for Teleperformance Leadership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714375"/>
            <a:ext cx="7620009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EXECUTIVE SUMMARY: ATTRITION LANDSCAPE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90569" y="1328738"/>
            <a:ext cx="36814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Employees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890569" y="1510903"/>
            <a:ext cx="36814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1,470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90569" y="1860947"/>
            <a:ext cx="36814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Attrition Rate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90569" y="2043113"/>
            <a:ext cx="36814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16% (237 Departures)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0569" y="2393156"/>
            <a:ext cx="36814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Income Gap (Active vs Attrition)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90569" y="2575322"/>
            <a:ext cx="36814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$2.05K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0569" y="2925366"/>
            <a:ext cx="36814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Monthly Income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90569" y="3107531"/>
            <a:ext cx="36814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$6.50K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650" y="1421606"/>
            <a:ext cx="3014663" cy="187166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1981" y="3429000"/>
            <a:ext cx="7620009" cy="857250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61981" y="3429000"/>
            <a:ext cx="7620009" cy="8572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OBJECTIVE: Identify high-risk segments and implement data-driven retention strategies.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761228"/>
            <a:ext cx="7620009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DEPARTMENTAL HOTSPOTS: SALES &amp; HR RISKS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61994" y="1314450"/>
            <a:ext cx="29479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SALES: 38.55%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61994" y="1530548"/>
            <a:ext cx="29479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risk level. Urgent intervention needed in sales culture and compensation structures.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1994" y="1959173"/>
            <a:ext cx="29479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HR: 35.59%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1994" y="2175272"/>
            <a:ext cx="29479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attrition despite smaller headcount. Core stability is at stake.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61994" y="2603897"/>
            <a:ext cx="29479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R&amp;D: 25.86%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1994" y="2819995"/>
            <a:ext cx="29479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volume of departures (133). Talent drain in technical roles.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1" y="1371600"/>
            <a:ext cx="4572000" cy="11430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18190" t="-1723" r="19932" b="1723"/>
          <a:stretch>
            <a:fillRect/>
          </a:stretch>
        </p:blipFill>
        <p:spPr>
          <a:xfrm>
            <a:off x="4213275" y="2991445"/>
            <a:ext cx="3453618" cy="17298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475478"/>
            <a:ext cx="7620009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OVERTIME FACTOR: A CRITICAL DRIVER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90569" y="1029537"/>
            <a:ext cx="36814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74.52% ATTRITION LINK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90569" y="1281354"/>
            <a:ext cx="36814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overwhelming majority of employees who left were working overtime, indicating a direct correlation with burnout.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90569" y="2012807"/>
            <a:ext cx="36814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LEVER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0569" y="2264625"/>
            <a:ext cx="36814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Reviewing workload distribution is the most immediate and effective way to stabilize the workforce.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81" y="1000962"/>
            <a:ext cx="2286000" cy="2143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55438" y="3229812"/>
            <a:ext cx="1843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74.5% Worked Overtime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761228"/>
            <a:ext cx="7620009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DEMOGRAPHIC VULNERABILITY: EARLY-CAREER TALENT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1457325"/>
            <a:ext cx="38100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ATTRITION RATE BY AGE GROUP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1887736"/>
            <a:ext cx="3809405" cy="17841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3743325"/>
            <a:ext cx="38100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700" b="1" dirty="0">
                <a:solidFill>
                  <a:srgbClr val="33415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18-24 age group</a:t>
            </a:r>
            <a:r>
              <a:rPr lang="en-US" sz="7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shows a critical 39% attrition rate, nearly 4x higher than the 35-54 demographic.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5333981" y="1457325"/>
            <a:ext cx="30480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MARITAL STATUS IMPACT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62569" y="1744861"/>
            <a:ext cx="291942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4C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53%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62569" y="2023467"/>
            <a:ext cx="291942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Employees (Highest Risk)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462569" y="2334220"/>
            <a:ext cx="291942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4C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26%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62569" y="2612827"/>
            <a:ext cx="291942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Married Employees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462569" y="2923580"/>
            <a:ext cx="291942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4C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21%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62569" y="3202186"/>
            <a:ext cx="291942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Divorced Employees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61981" y="4114800"/>
            <a:ext cx="7620009" cy="40005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1981" y="4114800"/>
            <a:ext cx="57150" cy="4000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61981" y="4114800"/>
            <a:ext cx="7620009" cy="4000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INSIGHT: We are losing our "future leaders" early. Mentorship for young, single professionals is vital.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761228"/>
            <a:ext cx="7620009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EXPERIENCE &amp; INCOME: TURNOVER DRIVERS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90569" y="1285875"/>
            <a:ext cx="29194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Junior Vulnerability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0569" y="1516261"/>
            <a:ext cx="291942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Junior-level staff exhibit the highest attrition rates, while Senior staff remain the most stable anchor of the workforce.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90569" y="2167737"/>
            <a:ext cx="29194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Income Threshold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0569" y="2398123"/>
            <a:ext cx="291942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$0-3K income bracket is the primary churn zone with 113 departures, highlighting a critical compensation gap.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90569" y="3049600"/>
            <a:ext cx="29194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Retention ROI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0569" y="3279986"/>
            <a:ext cx="291942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income brackets ($10K+) show significantly better retention, suggesting financial incentives are vital for stability.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1972" y="1578769"/>
            <a:ext cx="38100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Attrition Count by Salary Bracket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72" y="1850231"/>
            <a:ext cx="3809405" cy="21431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981" y="4286250"/>
            <a:ext cx="7620009" cy="4286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61981" y="4286250"/>
            <a:ext cx="7620009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284C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INSIGHT: FINANCIAL INCENTIVES ARE CRITICAL AT LOWER EXPERIENCE LEVELS TO PREVENT EARLY-STAGE TALENT DRAIN.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457200"/>
            <a:ext cx="8686800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ROLE-SPECIFIC ANALYSIS: HIGH RISK ROLES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28613" y="821531"/>
            <a:ext cx="372217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Sales Representatives (40%)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28613" y="1007269"/>
            <a:ext cx="372217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retention priority; high churn hurts revenue.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28613" y="1232995"/>
            <a:ext cx="372217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Laboratory Technicians (24%)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8613" y="1418732"/>
            <a:ext cx="372217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talent loss—review lab workload.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28613" y="1644458"/>
            <a:ext cx="372217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Human Resources (23%)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8613" y="1830195"/>
            <a:ext cx="372217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 turnover impacts company culture.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28613" y="2055921"/>
            <a:ext cx="372217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Sales Executives (17%)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8613" y="2241659"/>
            <a:ext cx="372217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Mid-level leadership needs engagement.</a:t>
            </a:r>
            <a:endParaRPr lang="en-US" sz="7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960" y="821531"/>
            <a:ext cx="4516636" cy="1714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" y="2650331"/>
            <a:ext cx="4105870" cy="31075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14338" y="2736056"/>
            <a:ext cx="12465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STABILITY LEADERS: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718072" y="2736056"/>
            <a:ext cx="248781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Research Directors (3%) &amp; Managers (5%)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858250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TENURE TRENDS: THE FIRST TWO YEARS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5763" y="707231"/>
            <a:ext cx="34044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"DANGER ZONE"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85763" y="923330"/>
            <a:ext cx="3404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Attrition peaks sharply within the first 24 months. 0-2 years represent the highest risk period for new talent.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5763" y="1409105"/>
            <a:ext cx="34044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STABILIZATION POINT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5763" y="1625203"/>
            <a:ext cx="3404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Departures drop significantly after 5 years and stabilize almost completely after the 10-year mark.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5763" y="2110978"/>
            <a:ext cx="34044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FOCUS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5763" y="2327077"/>
            <a:ext cx="3404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Enhancing the "New Joiner Experience" is critical to securing long-term workforce stability.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778" y="764381"/>
            <a:ext cx="4838105" cy="2571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3564731"/>
            <a:ext cx="9144000" cy="310753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0" y="3564731"/>
            <a:ext cx="9144000" cy="310753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RECOMMENDATION: Implement clear 2-year career roadmaps to mitigate early-stage turnover.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761228"/>
            <a:ext cx="7620009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TRAVEL &amp; SATISFACTION: WORK-LIFE BALANCE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1820763"/>
            <a:ext cx="38100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ATTRITION BY BUSINESS TRAVEL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108299"/>
            <a:ext cx="3809405" cy="17859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3981" y="1571625"/>
            <a:ext cx="30480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SATISFACTION INSIGHTS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462569" y="1859161"/>
            <a:ext cx="291942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Travel Impact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62569" y="2044898"/>
            <a:ext cx="2919422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"Travel Rarely" has the highest volume (156), frequent travel remains a significant stressor for the 18-24 demographic.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462569" y="2636351"/>
            <a:ext cx="291942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Role Satisfaction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62569" y="2822088"/>
            <a:ext cx="2919422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satisfaction scores in Sales and Lab Tech roles correlate directly with high churn rates.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462569" y="3273540"/>
            <a:ext cx="291942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Goal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462569" y="3459277"/>
            <a:ext cx="2919422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Balancing travel requirements and improving role-specific satisfaction is key to long-term retention.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761981" y="4286250"/>
            <a:ext cx="7620009" cy="428625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61981" y="4286250"/>
            <a:ext cx="7620009" cy="42862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INSIGHT: Reducing frequent travel for junior staff could stabilize the 18-24 age group.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858250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ROADMAP: RETENTION PLAN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735806"/>
            <a:ext cx="2743200" cy="357188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85750" y="1064419"/>
            <a:ext cx="2743200" cy="2857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85750" y="735806"/>
            <a:ext cx="2743200" cy="35718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IMMEDIATE (0-3M)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85763" y="1178719"/>
            <a:ext cx="26431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Overtime Audit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85763" y="1346597"/>
            <a:ext cx="2643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Immediate review of workload distribution in Sales and R&amp;D departments.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85763" y="1740898"/>
            <a:ext cx="26431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Stay Interviews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85763" y="1908777"/>
            <a:ext cx="2643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engagement sessions for the high-risk 18-24 age demographic.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0" y="735806"/>
            <a:ext cx="2743200" cy="3571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064419"/>
            <a:ext cx="2743200" cy="2857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0" y="735806"/>
            <a:ext cx="2743200" cy="35718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MID-TERM (3-9M)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00413" y="1178719"/>
            <a:ext cx="26431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Comp. Restructuring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00413" y="1346597"/>
            <a:ext cx="2643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Revise salary bands for the $0-3K bracket to align with market rates.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300413" y="1740898"/>
            <a:ext cx="26431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Career Pathing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300413" y="1908777"/>
            <a:ext cx="2643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 clear junior-to-mid level roadmaps to reduce early churn.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115050" y="735806"/>
            <a:ext cx="2743200" cy="3571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15050" y="1064419"/>
            <a:ext cx="2743200" cy="2857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15050" y="735806"/>
            <a:ext cx="2743200" cy="35718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LONG-TERM (1Y+)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5063" y="1178719"/>
            <a:ext cx="26431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Culture Initiative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15063" y="1346597"/>
            <a:ext cx="2643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"Teleperformance Culture" focused on long-term tenure rewards.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215063" y="1740898"/>
            <a:ext cx="26431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Work-Life Balance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3" y="1908777"/>
            <a:ext cx="2643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flexible travel and remote options for frequent travelers.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0" y="4793456"/>
            <a:ext cx="9144000" cy="350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0" y="4793456"/>
            <a:ext cx="9144000" cy="350044"/>
          </a:xfrm>
          <a:prstGeom prst="rect">
            <a:avLst/>
          </a:prstGeom>
          <a:noFill/>
          <a:ln/>
        </p:spPr>
        <p:txBody>
          <a:bodyPr wrap="square" lIns="340233" tIns="136017" rIns="340233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GOAL: REDUCE OVERALL ATTRITION BY 20-30% WITHIN THE NEXT FISCAL YEAR.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761228"/>
            <a:ext cx="7620009" cy="278606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CONCLUSION: SECURING OUR FUTURE TALENT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61981" y="1771650"/>
            <a:ext cx="1852017" cy="29468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PROJECTED IMPACT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90569" y="2237780"/>
            <a:ext cx="346709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20-30% Reduction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90569" y="2423517"/>
            <a:ext cx="34670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intervention in Overtime and Junior segments can significantly lower overall churn.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90569" y="2937867"/>
            <a:ext cx="346709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Proactive Management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0569" y="3123605"/>
            <a:ext cx="34670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Transitioning from reactive hiring to a data-driven, proactive talent retention strategy.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86285" y="1771650"/>
            <a:ext cx="1105495" cy="29468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14872" y="2237780"/>
            <a:ext cx="34671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Immediate Approval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14872" y="2423517"/>
            <a:ext cx="34671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Authorization for the "Overtime Audit" and "Junior Retention Initiative" pilot programs.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14872" y="2937867"/>
            <a:ext cx="34671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Stakeholder Alignment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14872" y="3123605"/>
            <a:ext cx="34671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departmental heads in Sales and R&amp;D on the upcoming retention roadmap.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0" y="4114800"/>
            <a:ext cx="9143972" cy="800100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42092" y="4410373"/>
            <a:ext cx="665976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kern="0" spc="2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DATA-DRIVEN DECISIONS FOR A STRONGER TELEPERFORMANCE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763</Words>
  <Application>Microsoft Office PowerPoint</Application>
  <PresentationFormat>On-screen Show (16:9)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AZZAM</cp:lastModifiedBy>
  <cp:revision>2</cp:revision>
  <dcterms:created xsi:type="dcterms:W3CDTF">2026-05-10T15:16:39Z</dcterms:created>
  <dcterms:modified xsi:type="dcterms:W3CDTF">2026-05-10T15:18:14Z</dcterms:modified>
</cp:coreProperties>
</file>